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1" r:id="rId5"/>
    <p:sldId id="284" r:id="rId6"/>
    <p:sldId id="293" r:id="rId7"/>
    <p:sldId id="280" r:id="rId8"/>
    <p:sldId id="278" r:id="rId9"/>
    <p:sldId id="261" r:id="rId10"/>
    <p:sldId id="273" r:id="rId11"/>
    <p:sldId id="279" r:id="rId12"/>
    <p:sldId id="265" r:id="rId13"/>
    <p:sldId id="294" r:id="rId14"/>
    <p:sldId id="268" r:id="rId15"/>
    <p:sldId id="292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napToGrid="0">
      <p:cViewPr>
        <p:scale>
          <a:sx n="78" d="100"/>
          <a:sy n="78" d="100"/>
        </p:scale>
        <p:origin x="878" y="91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0A48-0E32-5FCC-BD50-DE221F2B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8821E-99BC-01E0-A73C-3A81AF967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690B7-84A5-3BC9-28AA-704BD1A92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5C505-911D-0910-9027-DB4AA7C0F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09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577830"/>
          </a:xfrm>
        </p:spPr>
        <p:txBody>
          <a:bodyPr/>
          <a:lstStyle/>
          <a:p>
            <a:r>
              <a:rPr lang="en-US" dirty="0" err="1"/>
              <a:t>Actividad</a:t>
            </a:r>
            <a:r>
              <a:rPr lang="en-US" dirty="0"/>
              <a:t> 8: taller de </a:t>
            </a:r>
            <a:r>
              <a:rPr lang="en-US" dirty="0" err="1"/>
              <a:t>pruebas</a:t>
            </a:r>
            <a:br>
              <a:rPr lang="en-US" dirty="0"/>
            </a:br>
            <a:br>
              <a:rPr lang="en-US" sz="3200" dirty="0"/>
            </a:br>
            <a:r>
              <a:rPr lang="en-US" sz="3200" dirty="0"/>
              <a:t>Samuel Astudillo</a:t>
            </a:r>
            <a:br>
              <a:rPr lang="en-US" sz="3200" dirty="0"/>
            </a:br>
            <a:r>
              <a:rPr lang="en-US" sz="3200" dirty="0"/>
              <a:t>Camilo Zamora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Nuestra app</a:t>
            </a:r>
          </a:p>
        </p:txBody>
      </p:sp>
      <p:pic>
        <p:nvPicPr>
          <p:cNvPr id="15" name="Picture Placeholder 14" descr="Worker typing on laptop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6" r="16566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/>
          </a:bodyPr>
          <a:lstStyle/>
          <a:p>
            <a:r>
              <a:rPr lang="en-GB" dirty="0"/>
              <a:t>El </a:t>
            </a:r>
            <a:r>
              <a:rPr lang="en-GB" dirty="0" err="1"/>
              <a:t>Formulario</a:t>
            </a:r>
            <a:r>
              <a:rPr lang="en-GB" dirty="0"/>
              <a:t> de Contacto </a:t>
            </a:r>
            <a:r>
              <a:rPr lang="en-GB" dirty="0" err="1"/>
              <a:t>Launiversidad</a:t>
            </a:r>
            <a:r>
              <a:rPr lang="en-GB" dirty="0"/>
              <a:t> de la Salle es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aplicación</a:t>
            </a:r>
            <a:r>
              <a:rPr lang="en-GB" dirty="0"/>
              <a:t> web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permite</a:t>
            </a:r>
            <a:r>
              <a:rPr lang="en-GB" dirty="0"/>
              <a:t> a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usuarios</a:t>
            </a:r>
            <a:r>
              <a:rPr lang="en-GB" dirty="0"/>
              <a:t> </a:t>
            </a:r>
            <a:r>
              <a:rPr lang="en-GB" dirty="0" err="1"/>
              <a:t>ingresar</a:t>
            </a:r>
            <a:r>
              <a:rPr lang="en-GB" dirty="0"/>
              <a:t> sus </a:t>
            </a:r>
            <a:r>
              <a:rPr lang="en-GB" dirty="0" err="1"/>
              <a:t>datos</a:t>
            </a:r>
            <a:r>
              <a:rPr lang="en-GB" dirty="0"/>
              <a:t> y </a:t>
            </a:r>
            <a:r>
              <a:rPr lang="en-GB" dirty="0" err="1"/>
              <a:t>enviar</a:t>
            </a:r>
            <a:r>
              <a:rPr lang="en-GB" dirty="0"/>
              <a:t> un </a:t>
            </a:r>
            <a:r>
              <a:rPr lang="en-GB" dirty="0" err="1"/>
              <a:t>mensaje</a:t>
            </a:r>
            <a:r>
              <a:rPr lang="en-GB" dirty="0"/>
              <a:t> </a:t>
            </a:r>
            <a:r>
              <a:rPr lang="en-GB" dirty="0" err="1"/>
              <a:t>mediante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interfaz</a:t>
            </a:r>
            <a:r>
              <a:rPr lang="en-GB" dirty="0"/>
              <a:t> HTML </a:t>
            </a:r>
            <a:r>
              <a:rPr lang="en-GB" dirty="0" err="1"/>
              <a:t>conectada</a:t>
            </a:r>
            <a:r>
              <a:rPr lang="en-GB" dirty="0"/>
              <a:t> a un backend PHP.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8742-0C92-CD6B-961A-7151467F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Alcance de las pruebas</a:t>
            </a:r>
          </a:p>
        </p:txBody>
      </p:sp>
      <p:pic>
        <p:nvPicPr>
          <p:cNvPr id="6" name="Picture Placeholder 5" descr="Scientist viewing DNA test results on a computer screen in the laboratory">
            <a:extLst>
              <a:ext uri="{FF2B5EF4-FFF2-40B4-BE49-F238E27FC236}">
                <a16:creationId xmlns:a16="http://schemas.microsoft.com/office/drawing/2014/main" id="{A60D8AAE-6C12-957A-8434-1A08E10DD0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7" r="17107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CC956-44E3-8269-74F2-02B6EAED7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Las </a:t>
            </a:r>
            <a:r>
              <a:rPr lang="en-GB" dirty="0" err="1"/>
              <a:t>pruebas</a:t>
            </a:r>
            <a:r>
              <a:rPr lang="en-GB" dirty="0"/>
              <a:t> se </a:t>
            </a:r>
            <a:r>
              <a:rPr lang="en-GB" dirty="0" err="1"/>
              <a:t>enfocan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verificar</a:t>
            </a:r>
            <a:r>
              <a:rPr lang="en-GB" dirty="0"/>
              <a:t> el </a:t>
            </a:r>
            <a:r>
              <a:rPr lang="en-GB" dirty="0" err="1"/>
              <a:t>funcionamiento</a:t>
            </a:r>
            <a:r>
              <a:rPr lang="en-GB" dirty="0"/>
              <a:t> del </a:t>
            </a:r>
            <a:r>
              <a:rPr lang="en-GB" dirty="0" err="1"/>
              <a:t>formulario</a:t>
            </a:r>
            <a:r>
              <a:rPr lang="en-GB" dirty="0"/>
              <a:t>, la </a:t>
            </a:r>
            <a:r>
              <a:rPr lang="en-GB" dirty="0" err="1"/>
              <a:t>validación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campos y el </a:t>
            </a:r>
            <a:r>
              <a:rPr lang="en-GB" dirty="0" err="1"/>
              <a:t>correcto</a:t>
            </a:r>
            <a:r>
              <a:rPr lang="en-GB" dirty="0"/>
              <a:t> </a:t>
            </a:r>
            <a:r>
              <a:rPr lang="en-GB" dirty="0" err="1"/>
              <a:t>procesamiento</a:t>
            </a:r>
            <a:r>
              <a:rPr lang="en-GB" dirty="0"/>
              <a:t> de la </a:t>
            </a:r>
            <a:r>
              <a:rPr lang="en-GB" dirty="0" err="1"/>
              <a:t>información</a:t>
            </a:r>
            <a:r>
              <a:rPr lang="en-GB" dirty="0"/>
              <a:t> </a:t>
            </a:r>
            <a:r>
              <a:rPr lang="en-GB" dirty="0" err="1"/>
              <a:t>enviada</a:t>
            </a:r>
            <a:r>
              <a:rPr lang="en-GB" dirty="0"/>
              <a:t> al </a:t>
            </a:r>
            <a:r>
              <a:rPr lang="en-GB" dirty="0" err="1"/>
              <a:t>servidor</a:t>
            </a:r>
            <a:r>
              <a:rPr lang="en-GB" dirty="0"/>
              <a:t>. Se </a:t>
            </a:r>
            <a:r>
              <a:rPr lang="en-GB" dirty="0" err="1"/>
              <a:t>evaluarán</a:t>
            </a:r>
            <a:r>
              <a:rPr lang="en-GB" dirty="0"/>
              <a:t> tanto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escenarios</a:t>
            </a:r>
            <a:r>
              <a:rPr lang="en-GB" dirty="0"/>
              <a:t> </a:t>
            </a:r>
            <a:r>
              <a:rPr lang="en-GB" dirty="0" err="1"/>
              <a:t>válidos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inválidos</a:t>
            </a:r>
            <a:r>
              <a:rPr lang="en-GB" dirty="0"/>
              <a:t>, sin </a:t>
            </a:r>
            <a:r>
              <a:rPr lang="en-GB" dirty="0" err="1"/>
              <a:t>abarcar</a:t>
            </a:r>
            <a:r>
              <a:rPr lang="en-GB" dirty="0"/>
              <a:t> </a:t>
            </a:r>
            <a:r>
              <a:rPr lang="en-GB" dirty="0" err="1"/>
              <a:t>componentes</a:t>
            </a:r>
            <a:r>
              <a:rPr lang="en-GB" dirty="0"/>
              <a:t> </a:t>
            </a:r>
            <a:r>
              <a:rPr lang="en-GB" dirty="0" err="1"/>
              <a:t>externos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no </a:t>
            </a:r>
            <a:r>
              <a:rPr lang="en-GB" dirty="0" err="1"/>
              <a:t>formen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del </a:t>
            </a:r>
            <a:r>
              <a:rPr lang="en-GB" dirty="0" err="1"/>
              <a:t>alcance</a:t>
            </a:r>
            <a:r>
              <a:rPr lang="en-GB" dirty="0"/>
              <a:t> del </a:t>
            </a:r>
            <a:r>
              <a:rPr lang="en-GB" dirty="0" err="1"/>
              <a:t>formulario</a:t>
            </a:r>
            <a:r>
              <a:rPr lang="en-GB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3586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pruebas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21894"/>
            <a:ext cx="5066250" cy="1095943"/>
          </a:xfrm>
          <a:noFill/>
        </p:spPr>
        <p:txBody>
          <a:bodyPr>
            <a:noAutofit/>
          </a:bodyPr>
          <a:lstStyle/>
          <a:p>
            <a:r>
              <a:rPr lang="en-US" dirty="0" err="1"/>
              <a:t>Estrategia</a:t>
            </a:r>
            <a:r>
              <a:rPr lang="en-US" dirty="0"/>
              <a:t> de </a:t>
            </a:r>
            <a:r>
              <a:rPr lang="en-US" dirty="0" err="1"/>
              <a:t>pruebas</a:t>
            </a:r>
            <a:endParaRPr lang="en-US" dirty="0"/>
          </a:p>
        </p:txBody>
      </p:sp>
      <p:pic>
        <p:nvPicPr>
          <p:cNvPr id="91" name="Picture Placeholder 90" descr="Closeup of keyboard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4" r="16924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2053389"/>
            <a:ext cx="5066250" cy="4443664"/>
          </a:xfr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just"/>
            <a:r>
              <a:rPr lang="en-GB" b="1" dirty="0">
                <a:solidFill>
                  <a:schemeClr val="tx1"/>
                </a:solidFill>
              </a:rPr>
              <a:t>1. </a:t>
            </a:r>
            <a:r>
              <a:rPr lang="en-GB" b="1" dirty="0" err="1">
                <a:solidFill>
                  <a:schemeClr val="tx1"/>
                </a:solidFill>
              </a:rPr>
              <a:t>Pruebas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funcionales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GB" dirty="0" err="1">
                <a:solidFill>
                  <a:schemeClr val="tx1"/>
                </a:solidFill>
              </a:rPr>
              <a:t>Verificar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que</a:t>
            </a:r>
            <a:r>
              <a:rPr lang="en-GB" dirty="0">
                <a:solidFill>
                  <a:schemeClr val="tx1"/>
                </a:solidFill>
              </a:rPr>
              <a:t> el </a:t>
            </a:r>
            <a:r>
              <a:rPr lang="en-GB" dirty="0" err="1">
                <a:solidFill>
                  <a:schemeClr val="tx1"/>
                </a:solidFill>
              </a:rPr>
              <a:t>usuario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pueda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completar</a:t>
            </a:r>
            <a:r>
              <a:rPr lang="en-GB" dirty="0">
                <a:solidFill>
                  <a:schemeClr val="tx1"/>
                </a:solidFill>
              </a:rPr>
              <a:t> y </a:t>
            </a:r>
            <a:r>
              <a:rPr lang="en-GB" dirty="0" err="1">
                <a:solidFill>
                  <a:schemeClr val="tx1"/>
                </a:solidFill>
              </a:rPr>
              <a:t>enviar</a:t>
            </a:r>
            <a:r>
              <a:rPr lang="en-GB" dirty="0">
                <a:solidFill>
                  <a:schemeClr val="tx1"/>
                </a:solidFill>
              </a:rPr>
              <a:t> el </a:t>
            </a:r>
            <a:r>
              <a:rPr lang="en-GB" dirty="0" err="1">
                <a:solidFill>
                  <a:schemeClr val="tx1"/>
                </a:solidFill>
              </a:rPr>
              <a:t>formulario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correctamente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GB" b="1" dirty="0">
                <a:solidFill>
                  <a:schemeClr val="tx1"/>
                </a:solidFill>
              </a:rPr>
              <a:t>2. </a:t>
            </a:r>
            <a:r>
              <a:rPr lang="en-GB" b="1" dirty="0" err="1">
                <a:solidFill>
                  <a:schemeClr val="tx1"/>
                </a:solidFill>
              </a:rPr>
              <a:t>Pruebas</a:t>
            </a:r>
            <a:r>
              <a:rPr lang="en-GB" b="1" dirty="0">
                <a:solidFill>
                  <a:schemeClr val="tx1"/>
                </a:solidFill>
              </a:rPr>
              <a:t> de </a:t>
            </a:r>
            <a:r>
              <a:rPr lang="en-GB" b="1" dirty="0" err="1">
                <a:solidFill>
                  <a:schemeClr val="tx1"/>
                </a:solidFill>
              </a:rPr>
              <a:t>validación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GB" dirty="0" err="1">
                <a:solidFill>
                  <a:schemeClr val="tx1"/>
                </a:solidFill>
              </a:rPr>
              <a:t>Comprobar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que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los</a:t>
            </a:r>
            <a:r>
              <a:rPr lang="en-GB" dirty="0">
                <a:solidFill>
                  <a:schemeClr val="tx1"/>
                </a:solidFill>
              </a:rPr>
              <a:t> campos </a:t>
            </a:r>
            <a:r>
              <a:rPr lang="en-GB" dirty="0" err="1">
                <a:solidFill>
                  <a:schemeClr val="tx1"/>
                </a:solidFill>
              </a:rPr>
              <a:t>obligatorios</a:t>
            </a:r>
            <a:r>
              <a:rPr lang="en-GB" dirty="0">
                <a:solidFill>
                  <a:schemeClr val="tx1"/>
                </a:solidFill>
              </a:rPr>
              <a:t> y </a:t>
            </a:r>
            <a:r>
              <a:rPr lang="en-GB" dirty="0" err="1">
                <a:solidFill>
                  <a:schemeClr val="tx1"/>
                </a:solidFill>
              </a:rPr>
              <a:t>los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datos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ingresados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cumplan</a:t>
            </a:r>
            <a:r>
              <a:rPr lang="en-GB" dirty="0">
                <a:solidFill>
                  <a:schemeClr val="tx1"/>
                </a:solidFill>
              </a:rPr>
              <a:t> las </a:t>
            </a:r>
            <a:r>
              <a:rPr lang="en-GB" dirty="0" err="1">
                <a:solidFill>
                  <a:schemeClr val="tx1"/>
                </a:solidFill>
              </a:rPr>
              <a:t>condiciones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establecidas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GB" b="1" dirty="0">
                <a:solidFill>
                  <a:schemeClr val="tx1"/>
                </a:solidFill>
              </a:rPr>
              <a:t>3. </a:t>
            </a:r>
            <a:r>
              <a:rPr lang="en-GB" b="1" dirty="0" err="1">
                <a:solidFill>
                  <a:schemeClr val="tx1"/>
                </a:solidFill>
              </a:rPr>
              <a:t>Pruebas</a:t>
            </a:r>
            <a:r>
              <a:rPr lang="en-GB" b="1" dirty="0">
                <a:solidFill>
                  <a:schemeClr val="tx1"/>
                </a:solidFill>
              </a:rPr>
              <a:t> de </a:t>
            </a:r>
            <a:r>
              <a:rPr lang="en-GB" b="1" dirty="0" err="1">
                <a:solidFill>
                  <a:schemeClr val="tx1"/>
                </a:solidFill>
              </a:rPr>
              <a:t>integración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GB" dirty="0" err="1">
                <a:solidFill>
                  <a:schemeClr val="tx1"/>
                </a:solidFill>
              </a:rPr>
              <a:t>Verificar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que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los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datos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enviados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desde</a:t>
            </a:r>
            <a:r>
              <a:rPr lang="en-GB" dirty="0">
                <a:solidFill>
                  <a:schemeClr val="tx1"/>
                </a:solidFill>
              </a:rPr>
              <a:t> el </a:t>
            </a:r>
            <a:r>
              <a:rPr lang="en-GB" dirty="0" err="1">
                <a:solidFill>
                  <a:schemeClr val="tx1"/>
                </a:solidFill>
              </a:rPr>
              <a:t>formulario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sean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procesados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correctamente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por</a:t>
            </a:r>
            <a:r>
              <a:rPr lang="en-GB" dirty="0">
                <a:solidFill>
                  <a:schemeClr val="tx1"/>
                </a:solidFill>
              </a:rPr>
              <a:t> el backend PHP.</a:t>
            </a: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dirty="0" err="1"/>
              <a:t>Justificación</a:t>
            </a:r>
            <a:r>
              <a:rPr lang="en-US" dirty="0"/>
              <a:t> de las </a:t>
            </a:r>
            <a:r>
              <a:rPr lang="en-US" dirty="0" err="1"/>
              <a:t>pruebas</a:t>
            </a:r>
            <a:endParaRPr lang="en-US" dirty="0"/>
          </a:p>
        </p:txBody>
      </p:sp>
      <p:pic>
        <p:nvPicPr>
          <p:cNvPr id="20" name="Picture Placeholder 7" descr="Three arrows on bullseye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38199" y="2389525"/>
            <a:ext cx="5212079" cy="3407701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 err="1"/>
              <a:t>Pruebas</a:t>
            </a:r>
            <a:r>
              <a:rPr lang="en-GB" dirty="0"/>
              <a:t> </a:t>
            </a:r>
            <a:r>
              <a:rPr lang="en-GB" dirty="0" err="1"/>
              <a:t>funcionales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Permiten</a:t>
            </a:r>
            <a:r>
              <a:rPr lang="en-GB" dirty="0"/>
              <a:t> </a:t>
            </a:r>
            <a:r>
              <a:rPr lang="en-GB" dirty="0" err="1"/>
              <a:t>comprobar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el </a:t>
            </a:r>
            <a:r>
              <a:rPr lang="en-GB" dirty="0" err="1"/>
              <a:t>usuario</a:t>
            </a:r>
            <a:r>
              <a:rPr lang="en-GB" dirty="0"/>
              <a:t> </a:t>
            </a:r>
            <a:r>
              <a:rPr lang="en-GB" dirty="0" err="1"/>
              <a:t>pueda</a:t>
            </a:r>
            <a:r>
              <a:rPr lang="en-GB" dirty="0"/>
              <a:t> </a:t>
            </a:r>
            <a:r>
              <a:rPr lang="en-GB" dirty="0" err="1"/>
              <a:t>diligenciar</a:t>
            </a:r>
            <a:r>
              <a:rPr lang="en-GB" dirty="0"/>
              <a:t> y </a:t>
            </a:r>
            <a:r>
              <a:rPr lang="en-GB" dirty="0" err="1"/>
              <a:t>enviar</a:t>
            </a:r>
            <a:r>
              <a:rPr lang="en-GB" dirty="0"/>
              <a:t> el </a:t>
            </a:r>
            <a:r>
              <a:rPr lang="en-GB" dirty="0" err="1"/>
              <a:t>formulario</a:t>
            </a:r>
            <a:r>
              <a:rPr lang="en-GB" dirty="0"/>
              <a:t> </a:t>
            </a:r>
            <a:r>
              <a:rPr lang="en-GB" dirty="0" err="1"/>
              <a:t>correctamente</a:t>
            </a:r>
            <a:r>
              <a:rPr lang="en-GB" dirty="0"/>
              <a:t>, </a:t>
            </a:r>
            <a:r>
              <a:rPr lang="en-GB" dirty="0" err="1"/>
              <a:t>identificando</a:t>
            </a:r>
            <a:r>
              <a:rPr lang="en-GB" dirty="0"/>
              <a:t> </a:t>
            </a:r>
            <a:r>
              <a:rPr lang="en-GB" dirty="0" err="1"/>
              <a:t>fallos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funcionamiento</a:t>
            </a:r>
            <a:r>
              <a:rPr lang="en-GB" dirty="0"/>
              <a:t>.</a:t>
            </a:r>
          </a:p>
          <a:p>
            <a:r>
              <a:rPr lang="en-GB" dirty="0" err="1"/>
              <a:t>Pruebas</a:t>
            </a:r>
            <a:r>
              <a:rPr lang="en-GB" dirty="0"/>
              <a:t> de </a:t>
            </a:r>
            <a:r>
              <a:rPr lang="en-GB" dirty="0" err="1"/>
              <a:t>validación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Permiten</a:t>
            </a:r>
            <a:r>
              <a:rPr lang="en-GB" dirty="0"/>
              <a:t> </a:t>
            </a:r>
            <a:r>
              <a:rPr lang="en-GB" dirty="0" err="1"/>
              <a:t>verificar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campos </a:t>
            </a:r>
            <a:r>
              <a:rPr lang="en-GB" dirty="0" err="1"/>
              <a:t>obligatorios</a:t>
            </a:r>
            <a:r>
              <a:rPr lang="en-GB" dirty="0"/>
              <a:t> y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datos</a:t>
            </a:r>
            <a:r>
              <a:rPr lang="en-GB" dirty="0"/>
              <a:t> </a:t>
            </a:r>
            <a:r>
              <a:rPr lang="en-GB" dirty="0" err="1"/>
              <a:t>ingresados</a:t>
            </a:r>
            <a:r>
              <a:rPr lang="en-GB" dirty="0"/>
              <a:t> </a:t>
            </a:r>
            <a:r>
              <a:rPr lang="en-GB" dirty="0" err="1"/>
              <a:t>cumplan</a:t>
            </a:r>
            <a:r>
              <a:rPr lang="en-GB" dirty="0"/>
              <a:t> las </a:t>
            </a:r>
            <a:r>
              <a:rPr lang="en-GB" dirty="0" err="1"/>
              <a:t>condiciones</a:t>
            </a:r>
            <a:r>
              <a:rPr lang="en-GB" dirty="0"/>
              <a:t> </a:t>
            </a:r>
            <a:r>
              <a:rPr lang="en-GB" dirty="0" err="1"/>
              <a:t>establecidas</a:t>
            </a:r>
            <a:r>
              <a:rPr lang="en-GB" dirty="0"/>
              <a:t>, </a:t>
            </a:r>
            <a:r>
              <a:rPr lang="en-GB" dirty="0" err="1"/>
              <a:t>evitando</a:t>
            </a:r>
            <a:r>
              <a:rPr lang="en-GB" dirty="0"/>
              <a:t> </a:t>
            </a:r>
            <a:r>
              <a:rPr lang="en-GB" dirty="0" err="1"/>
              <a:t>información</a:t>
            </a:r>
            <a:r>
              <a:rPr lang="en-GB" dirty="0"/>
              <a:t> </a:t>
            </a:r>
            <a:r>
              <a:rPr lang="en-GB" dirty="0" err="1"/>
              <a:t>incompleta</a:t>
            </a:r>
            <a:r>
              <a:rPr lang="en-GB" dirty="0"/>
              <a:t> o </a:t>
            </a:r>
            <a:r>
              <a:rPr lang="en-GB" dirty="0" err="1"/>
              <a:t>inválida</a:t>
            </a:r>
            <a:r>
              <a:rPr lang="en-GB" dirty="0"/>
              <a:t>.</a:t>
            </a:r>
          </a:p>
          <a:p>
            <a:r>
              <a:rPr lang="en-GB" dirty="0" err="1"/>
              <a:t>Pruebas</a:t>
            </a:r>
            <a:r>
              <a:rPr lang="en-GB" dirty="0"/>
              <a:t> de </a:t>
            </a:r>
            <a:r>
              <a:rPr lang="en-GB" dirty="0" err="1"/>
              <a:t>integración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Permiten</a:t>
            </a:r>
            <a:r>
              <a:rPr lang="en-GB" dirty="0"/>
              <a:t> </a:t>
            </a:r>
            <a:r>
              <a:rPr lang="en-GB" dirty="0" err="1"/>
              <a:t>comprobar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el </a:t>
            </a:r>
            <a:r>
              <a:rPr lang="en-GB" dirty="0" err="1"/>
              <a:t>formulario</a:t>
            </a:r>
            <a:r>
              <a:rPr lang="en-GB" dirty="0"/>
              <a:t> HTML </a:t>
            </a:r>
            <a:r>
              <a:rPr lang="en-GB" dirty="0" err="1"/>
              <a:t>envíe</a:t>
            </a:r>
            <a:r>
              <a:rPr lang="en-GB" dirty="0"/>
              <a:t> la </a:t>
            </a:r>
            <a:r>
              <a:rPr lang="en-GB" dirty="0" err="1"/>
              <a:t>información</a:t>
            </a:r>
            <a:r>
              <a:rPr lang="en-GB" dirty="0"/>
              <a:t> </a:t>
            </a:r>
            <a:r>
              <a:rPr lang="en-GB" dirty="0" err="1"/>
              <a:t>correctamente</a:t>
            </a:r>
            <a:r>
              <a:rPr lang="en-GB" dirty="0"/>
              <a:t> al backend PHP y </a:t>
            </a:r>
            <a:r>
              <a:rPr lang="en-GB" dirty="0" err="1"/>
              <a:t>que</a:t>
            </a:r>
            <a:r>
              <a:rPr lang="en-GB" dirty="0"/>
              <a:t> el </a:t>
            </a:r>
            <a:r>
              <a:rPr lang="en-GB" dirty="0" err="1"/>
              <a:t>servidor</a:t>
            </a:r>
            <a:r>
              <a:rPr lang="en-GB" dirty="0"/>
              <a:t> la </a:t>
            </a:r>
            <a:r>
              <a:rPr lang="en-GB" dirty="0" err="1"/>
              <a:t>procese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se </a:t>
            </a:r>
            <a:r>
              <a:rPr lang="en-GB" dirty="0" err="1"/>
              <a:t>espera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0895"/>
            <a:ext cx="9144000" cy="798095"/>
          </a:xfrm>
          <a:noFill/>
        </p:spPr>
        <p:txBody>
          <a:bodyPr/>
          <a:lstStyle/>
          <a:p>
            <a:r>
              <a:rPr lang="en-US" dirty="0"/>
              <a:t>Casos de </a:t>
            </a:r>
            <a:r>
              <a:rPr lang="en-US" dirty="0" err="1"/>
              <a:t>prueba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94E4D8-145A-BCD4-B289-C09341081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419542"/>
              </p:ext>
            </p:extLst>
          </p:nvPr>
        </p:nvGraphicFramePr>
        <p:xfrm>
          <a:off x="383440" y="1138989"/>
          <a:ext cx="11295214" cy="537811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911834">
                  <a:extLst>
                    <a:ext uri="{9D8B030D-6E8A-4147-A177-3AD203B41FA5}">
                      <a16:colId xmlns:a16="http://schemas.microsoft.com/office/drawing/2014/main" val="694105048"/>
                    </a:ext>
                  </a:extLst>
                </a:gridCol>
                <a:gridCol w="1204140">
                  <a:extLst>
                    <a:ext uri="{9D8B030D-6E8A-4147-A177-3AD203B41FA5}">
                      <a16:colId xmlns:a16="http://schemas.microsoft.com/office/drawing/2014/main" val="1018637823"/>
                    </a:ext>
                  </a:extLst>
                </a:gridCol>
                <a:gridCol w="1227688">
                  <a:extLst>
                    <a:ext uri="{9D8B030D-6E8A-4147-A177-3AD203B41FA5}">
                      <a16:colId xmlns:a16="http://schemas.microsoft.com/office/drawing/2014/main" val="837194634"/>
                    </a:ext>
                  </a:extLst>
                </a:gridCol>
                <a:gridCol w="1192773">
                  <a:extLst>
                    <a:ext uri="{9D8B030D-6E8A-4147-A177-3AD203B41FA5}">
                      <a16:colId xmlns:a16="http://schemas.microsoft.com/office/drawing/2014/main" val="1004872992"/>
                    </a:ext>
                  </a:extLst>
                </a:gridCol>
                <a:gridCol w="1309696">
                  <a:extLst>
                    <a:ext uri="{9D8B030D-6E8A-4147-A177-3AD203B41FA5}">
                      <a16:colId xmlns:a16="http://schemas.microsoft.com/office/drawing/2014/main" val="2288786529"/>
                    </a:ext>
                  </a:extLst>
                </a:gridCol>
                <a:gridCol w="1333243">
                  <a:extLst>
                    <a:ext uri="{9D8B030D-6E8A-4147-A177-3AD203B41FA5}">
                      <a16:colId xmlns:a16="http://schemas.microsoft.com/office/drawing/2014/main" val="2597116348"/>
                    </a:ext>
                  </a:extLst>
                </a:gridCol>
                <a:gridCol w="1379525">
                  <a:extLst>
                    <a:ext uri="{9D8B030D-6E8A-4147-A177-3AD203B41FA5}">
                      <a16:colId xmlns:a16="http://schemas.microsoft.com/office/drawing/2014/main" val="329127258"/>
                    </a:ext>
                  </a:extLst>
                </a:gridCol>
                <a:gridCol w="958928">
                  <a:extLst>
                    <a:ext uri="{9D8B030D-6E8A-4147-A177-3AD203B41FA5}">
                      <a16:colId xmlns:a16="http://schemas.microsoft.com/office/drawing/2014/main" val="249139269"/>
                    </a:ext>
                  </a:extLst>
                </a:gridCol>
                <a:gridCol w="608160">
                  <a:extLst>
                    <a:ext uri="{9D8B030D-6E8A-4147-A177-3AD203B41FA5}">
                      <a16:colId xmlns:a16="http://schemas.microsoft.com/office/drawing/2014/main" val="4110536557"/>
                    </a:ext>
                  </a:extLst>
                </a:gridCol>
                <a:gridCol w="1169227">
                  <a:extLst>
                    <a:ext uri="{9D8B030D-6E8A-4147-A177-3AD203B41FA5}">
                      <a16:colId xmlns:a16="http://schemas.microsoft.com/office/drawing/2014/main" val="2544599904"/>
                    </a:ext>
                  </a:extLst>
                </a:gridCol>
              </a:tblGrid>
              <a:tr h="2657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ID / Nombre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Objetivo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Requisito / componente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Precondiciones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Datos de entrada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Pasos de ejecución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Resultado esperado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Resultado obtenido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Estado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Evidencia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 anchor="ctr"/>
                </a:tc>
                <a:extLst>
                  <a:ext uri="{0D108BD9-81ED-4DB2-BD59-A6C34878D82A}">
                    <a16:rowId xmlns:a16="http://schemas.microsoft.com/office/drawing/2014/main" val="1497852849"/>
                  </a:ext>
                </a:extLst>
              </a:tr>
              <a:tr h="7678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PF-01 – </a:t>
                      </a:r>
                      <a:r>
                        <a:rPr lang="en-US" sz="800" dirty="0" err="1">
                          <a:effectLst/>
                        </a:rPr>
                        <a:t>Envío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exitoso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Comprobar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que</a:t>
                      </a:r>
                      <a:r>
                        <a:rPr lang="en-US" sz="800" dirty="0">
                          <a:effectLst/>
                        </a:rPr>
                        <a:t> un </a:t>
                      </a:r>
                      <a:r>
                        <a:rPr lang="en-US" sz="800" dirty="0" err="1">
                          <a:effectLst/>
                        </a:rPr>
                        <a:t>usuario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pueda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enviar</a:t>
                      </a:r>
                      <a:r>
                        <a:rPr lang="en-US" sz="800" dirty="0">
                          <a:effectLst/>
                        </a:rPr>
                        <a:t> un </a:t>
                      </a:r>
                      <a:r>
                        <a:rPr lang="en-US" sz="800" dirty="0" err="1">
                          <a:effectLst/>
                        </a:rPr>
                        <a:t>mensaje</a:t>
                      </a:r>
                      <a:r>
                        <a:rPr lang="en-US" sz="800" dirty="0">
                          <a:effectLst/>
                        </a:rPr>
                        <a:t> con </a:t>
                      </a:r>
                      <a:r>
                        <a:rPr lang="en-US" sz="800" dirty="0" err="1">
                          <a:effectLst/>
                        </a:rPr>
                        <a:t>todos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los</a:t>
                      </a:r>
                      <a:r>
                        <a:rPr lang="en-US" sz="800" dirty="0">
                          <a:effectLst/>
                        </a:rPr>
                        <a:t> campos </a:t>
                      </a:r>
                      <a:r>
                        <a:rPr lang="en-US" sz="800" dirty="0" err="1">
                          <a:effectLst/>
                        </a:rPr>
                        <a:t>válidos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Formulario HTML y respuesta de procesar.php.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Apache y PHP activos; abrir el ambiente DEV o Staging y entrar al formulario.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nombre: Ana Pérez; email: ana@example.com; asunto: Consulta; mensaje: Prueba de envío.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1. Abrir index.html. 2. Pulsar “Ir al formulario”. 3. Completar los cuatro campos. 4. Pulsar “Enviar mensaje”.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Se muestra “Mensaje recibido”, el nombre y el resumen de email, asunto y mensaje.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 de ejecución.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Captura del formulario diligenciado y de la respuesta “Mensaje recibido”.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extLst>
                  <a:ext uri="{0D108BD9-81ED-4DB2-BD59-A6C34878D82A}">
                    <a16:rowId xmlns:a16="http://schemas.microsoft.com/office/drawing/2014/main" val="2963491816"/>
                  </a:ext>
                </a:extLst>
              </a:tr>
              <a:tr h="6331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PF-02 – </a:t>
                      </a:r>
                      <a:r>
                        <a:rPr lang="en-US" sz="800" dirty="0" err="1">
                          <a:effectLst/>
                        </a:rPr>
                        <a:t>Navegación</a:t>
                      </a:r>
                      <a:r>
                        <a:rPr lang="en-US" sz="800" dirty="0">
                          <a:effectLst/>
                        </a:rPr>
                        <a:t> al </a:t>
                      </a:r>
                      <a:r>
                        <a:rPr lang="en-US" sz="800" dirty="0" err="1">
                          <a:effectLst/>
                        </a:rPr>
                        <a:t>formulario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Verificar que la página principal permita acceder al formulario de contacto.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index.html y enlace a formulario.html.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Servidor web activo; abrir la página principal del ambiente elegido.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 aplica.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1. Abrir index.html. 2. Verificar el texto de bienvenida. 3. Pulsar “Ir al formulario”.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Se abre formulario.html y se visualizan Nombre, Email, Asunto, Mensaje y el botón “Enviar mensaje”.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 de ejecución.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Captura de index.html y del formulario abierto.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extLst>
                  <a:ext uri="{0D108BD9-81ED-4DB2-BD59-A6C34878D82A}">
                    <a16:rowId xmlns:a16="http://schemas.microsoft.com/office/drawing/2014/main" val="1389162741"/>
                  </a:ext>
                </a:extLst>
              </a:tr>
              <a:tr h="11559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PV-01 – Campo </a:t>
                      </a:r>
                      <a:r>
                        <a:rPr lang="en-US" sz="800" dirty="0" err="1">
                          <a:effectLst/>
                        </a:rPr>
                        <a:t>obligatorio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vacío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Comprobar que el envío se bloquee si falta un campo requerido.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Validación HTML required y validación PHP de campos vacíos.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Formulario abierto; para comprobar el servidor, enviar una solicitud POST sin un campo requerido o desactivar temporalmente la validación del navegador.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Nombre: Ana Pérez; email: ana@example.com; </a:t>
                      </a:r>
                      <a:r>
                        <a:rPr lang="en-US" sz="800" dirty="0" err="1">
                          <a:effectLst/>
                        </a:rPr>
                        <a:t>asunto</a:t>
                      </a:r>
                      <a:r>
                        <a:rPr lang="en-US" sz="800" dirty="0">
                          <a:effectLst/>
                        </a:rPr>
                        <a:t>: </a:t>
                      </a:r>
                      <a:r>
                        <a:rPr lang="en-US" sz="800" dirty="0" err="1">
                          <a:effectLst/>
                        </a:rPr>
                        <a:t>vacío</a:t>
                      </a:r>
                      <a:r>
                        <a:rPr lang="en-US" sz="800" dirty="0">
                          <a:effectLst/>
                        </a:rPr>
                        <a:t>; </a:t>
                      </a:r>
                      <a:r>
                        <a:rPr lang="en-US" sz="800" dirty="0" err="1">
                          <a:effectLst/>
                        </a:rPr>
                        <a:t>mensaje</a:t>
                      </a:r>
                      <a:r>
                        <a:rPr lang="en-US" sz="800" dirty="0">
                          <a:effectLst/>
                        </a:rPr>
                        <a:t>: </a:t>
                      </a:r>
                      <a:r>
                        <a:rPr lang="en-US" sz="800" dirty="0" err="1">
                          <a:effectLst/>
                        </a:rPr>
                        <a:t>Prueba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1. </a:t>
                      </a:r>
                      <a:r>
                        <a:rPr lang="en-US" sz="800" dirty="0" err="1">
                          <a:effectLst/>
                        </a:rPr>
                        <a:t>Dejar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Asunto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vacío</a:t>
                      </a:r>
                      <a:r>
                        <a:rPr lang="en-US" sz="800" dirty="0">
                          <a:effectLst/>
                        </a:rPr>
                        <a:t>. 2. Pulsar “</a:t>
                      </a:r>
                      <a:r>
                        <a:rPr lang="en-US" sz="800" dirty="0" err="1">
                          <a:effectLst/>
                        </a:rPr>
                        <a:t>Enviar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mensaje</a:t>
                      </a:r>
                      <a:r>
                        <a:rPr lang="en-US" sz="800" dirty="0">
                          <a:effectLst/>
                        </a:rPr>
                        <a:t>”. 3. Para </a:t>
                      </a:r>
                      <a:r>
                        <a:rPr lang="en-US" sz="800" dirty="0" err="1">
                          <a:effectLst/>
                        </a:rPr>
                        <a:t>validar</a:t>
                      </a:r>
                      <a:r>
                        <a:rPr lang="en-US" sz="800" dirty="0">
                          <a:effectLst/>
                        </a:rPr>
                        <a:t> PHP </a:t>
                      </a:r>
                      <a:r>
                        <a:rPr lang="en-US" sz="800" dirty="0" err="1">
                          <a:effectLst/>
                        </a:rPr>
                        <a:t>por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separado</a:t>
                      </a:r>
                      <a:r>
                        <a:rPr lang="en-US" sz="800" dirty="0">
                          <a:effectLst/>
                        </a:rPr>
                        <a:t>, </a:t>
                      </a:r>
                      <a:r>
                        <a:rPr lang="en-US" sz="800" dirty="0" err="1">
                          <a:effectLst/>
                        </a:rPr>
                        <a:t>repetir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enviando</a:t>
                      </a:r>
                      <a:r>
                        <a:rPr lang="en-US" sz="800" dirty="0">
                          <a:effectLst/>
                        </a:rPr>
                        <a:t> POST sin </a:t>
                      </a:r>
                      <a:r>
                        <a:rPr lang="en-US" sz="800" dirty="0" err="1">
                          <a:effectLst/>
                        </a:rPr>
                        <a:t>asunto</a:t>
                      </a:r>
                      <a:r>
                        <a:rPr lang="en-US" sz="800" dirty="0">
                          <a:effectLst/>
                        </a:rPr>
                        <a:t>, </a:t>
                      </a:r>
                      <a:r>
                        <a:rPr lang="en-US" sz="800" dirty="0" err="1">
                          <a:effectLst/>
                        </a:rPr>
                        <a:t>omitiendo</a:t>
                      </a:r>
                      <a:r>
                        <a:rPr lang="en-US" sz="800" dirty="0">
                          <a:effectLst/>
                        </a:rPr>
                        <a:t> la </a:t>
                      </a:r>
                      <a:r>
                        <a:rPr lang="en-US" sz="800" dirty="0" err="1">
                          <a:effectLst/>
                        </a:rPr>
                        <a:t>validación</a:t>
                      </a:r>
                      <a:r>
                        <a:rPr lang="en-US" sz="800" dirty="0">
                          <a:effectLst/>
                        </a:rPr>
                        <a:t> del </a:t>
                      </a:r>
                      <a:r>
                        <a:rPr lang="en-US" sz="800" dirty="0" err="1">
                          <a:effectLst/>
                        </a:rPr>
                        <a:t>navegador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El </a:t>
                      </a:r>
                      <a:r>
                        <a:rPr lang="en-US" sz="800" dirty="0" err="1">
                          <a:effectLst/>
                        </a:rPr>
                        <a:t>navegador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bloquea</a:t>
                      </a:r>
                      <a:r>
                        <a:rPr lang="en-US" sz="800" dirty="0">
                          <a:effectLst/>
                        </a:rPr>
                        <a:t> el </a:t>
                      </a:r>
                      <a:r>
                        <a:rPr lang="en-US" sz="800" dirty="0" err="1">
                          <a:effectLst/>
                        </a:rPr>
                        <a:t>envío</a:t>
                      </a:r>
                      <a:r>
                        <a:rPr lang="en-US" sz="800" dirty="0">
                          <a:effectLst/>
                        </a:rPr>
                        <a:t> normal. Si la </a:t>
                      </a:r>
                      <a:r>
                        <a:rPr lang="en-US" sz="800" dirty="0" err="1">
                          <a:effectLst/>
                        </a:rPr>
                        <a:t>petición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llega</a:t>
                      </a:r>
                      <a:r>
                        <a:rPr lang="en-US" sz="800" dirty="0">
                          <a:effectLst/>
                        </a:rPr>
                        <a:t> a PHP sin </a:t>
                      </a:r>
                      <a:r>
                        <a:rPr lang="en-US" sz="800" dirty="0" err="1">
                          <a:effectLst/>
                        </a:rPr>
                        <a:t>asunto</a:t>
                      </a:r>
                      <a:r>
                        <a:rPr lang="en-US" sz="800" dirty="0">
                          <a:effectLst/>
                        </a:rPr>
                        <a:t>, </a:t>
                      </a:r>
                      <a:r>
                        <a:rPr lang="en-US" sz="800" dirty="0" err="1">
                          <a:effectLst/>
                        </a:rPr>
                        <a:t>aparece</a:t>
                      </a:r>
                      <a:r>
                        <a:rPr lang="en-US" sz="800" dirty="0">
                          <a:effectLst/>
                        </a:rPr>
                        <a:t> “Todos </a:t>
                      </a:r>
                      <a:r>
                        <a:rPr lang="en-US" sz="800" dirty="0" err="1">
                          <a:effectLst/>
                        </a:rPr>
                        <a:t>los</a:t>
                      </a:r>
                      <a:r>
                        <a:rPr lang="en-US" sz="800" dirty="0">
                          <a:effectLst/>
                        </a:rPr>
                        <a:t> campos son </a:t>
                      </a:r>
                      <a:r>
                        <a:rPr lang="en-US" sz="800" dirty="0" err="1">
                          <a:effectLst/>
                        </a:rPr>
                        <a:t>obligatorios</a:t>
                      </a:r>
                      <a:r>
                        <a:rPr lang="en-US" sz="800" dirty="0">
                          <a:effectLst/>
                        </a:rPr>
                        <a:t>.”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 de ejecución.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Captura del bloqueo del navegador y/o del mensaje de error PHP.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extLst>
                  <a:ext uri="{0D108BD9-81ED-4DB2-BD59-A6C34878D82A}">
                    <a16:rowId xmlns:a16="http://schemas.microsoft.com/office/drawing/2014/main" val="2446836532"/>
                  </a:ext>
                </a:extLst>
              </a:tr>
              <a:tr h="7678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PV-02 – Correo inválido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Verificar que se rechace una dirección de correo con formato no válido.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Campo email y validación de formato en HTML/PHP.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Formulario abierto.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nombre: Ana Pérez; email: ana@; asunto: Consulta; mensaje: Prueba.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1. Ingresar los datos indicados. 2. Pulsar “Enviar mensaje”. 3. Si el navegador permite enviar, comprobar la respuesta de PHP.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El </a:t>
                      </a:r>
                      <a:r>
                        <a:rPr lang="en-US" sz="800" dirty="0" err="1">
                          <a:effectLst/>
                        </a:rPr>
                        <a:t>formulario</a:t>
                      </a:r>
                      <a:r>
                        <a:rPr lang="en-US" sz="800" dirty="0">
                          <a:effectLst/>
                        </a:rPr>
                        <a:t> no </a:t>
                      </a:r>
                      <a:r>
                        <a:rPr lang="en-US" sz="800" dirty="0" err="1">
                          <a:effectLst/>
                        </a:rPr>
                        <a:t>debe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aceptar</a:t>
                      </a:r>
                      <a:r>
                        <a:rPr lang="en-US" sz="800" dirty="0">
                          <a:effectLst/>
                        </a:rPr>
                        <a:t> el </a:t>
                      </a:r>
                      <a:r>
                        <a:rPr lang="en-US" sz="800" dirty="0" err="1">
                          <a:effectLst/>
                        </a:rPr>
                        <a:t>correo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inválido</a:t>
                      </a:r>
                      <a:r>
                        <a:rPr lang="en-US" sz="800" dirty="0">
                          <a:effectLst/>
                        </a:rPr>
                        <a:t>; PHP </a:t>
                      </a:r>
                      <a:r>
                        <a:rPr lang="en-US" sz="800" dirty="0" err="1">
                          <a:effectLst/>
                        </a:rPr>
                        <a:t>debe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mostrar</a:t>
                      </a:r>
                      <a:r>
                        <a:rPr lang="en-US" sz="800" dirty="0">
                          <a:effectLst/>
                        </a:rPr>
                        <a:t> el </a:t>
                      </a:r>
                      <a:r>
                        <a:rPr lang="en-US" sz="800" dirty="0" err="1">
                          <a:effectLst/>
                        </a:rPr>
                        <a:t>mensaje</a:t>
                      </a:r>
                      <a:r>
                        <a:rPr lang="en-US" sz="800" dirty="0">
                          <a:effectLst/>
                        </a:rPr>
                        <a:t> de error de email no </a:t>
                      </a:r>
                      <a:r>
                        <a:rPr lang="en-US" sz="800" dirty="0" err="1">
                          <a:effectLst/>
                        </a:rPr>
                        <a:t>válido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si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recibe</a:t>
                      </a:r>
                      <a:r>
                        <a:rPr lang="en-US" sz="800" dirty="0">
                          <a:effectLst/>
                        </a:rPr>
                        <a:t> la </a:t>
                      </a:r>
                      <a:r>
                        <a:rPr lang="en-US" sz="800" dirty="0" err="1">
                          <a:effectLst/>
                        </a:rPr>
                        <a:t>solicitud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 de ejecución.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Captura del mensaje de validación del navegador o del error mostrado por PHP.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extLst>
                  <a:ext uri="{0D108BD9-81ED-4DB2-BD59-A6C34878D82A}">
                    <a16:rowId xmlns:a16="http://schemas.microsoft.com/office/drawing/2014/main" val="422332164"/>
                  </a:ext>
                </a:extLst>
              </a:tr>
              <a:tr h="7678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PI-01 – </a:t>
                      </a:r>
                      <a:r>
                        <a:rPr lang="en-US" sz="800" dirty="0" err="1">
                          <a:effectLst/>
                        </a:rPr>
                        <a:t>Formulario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integrado</a:t>
                      </a:r>
                      <a:r>
                        <a:rPr lang="en-US" sz="800" dirty="0">
                          <a:effectLst/>
                        </a:rPr>
                        <a:t> con PHP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Comprobar que el formulario envíe los datos al archivo de procesamiento por POST y PHP los muestre.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formulario.html: action="procesar.php", method="POST"; procesar.php.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Apache y PHP activos; abrir el formulario desde el mismo ambiente.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nombre: Carlos Ruiz; email: carlos@example.com; asunto: Integración; mensaje: Verificar envío POST.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1. Completar todos los campos con datos válidos. 2. Enviar el formulario. 3. Revisar la página de respuesta.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procesar.php recibe los valores y presenta “Mensaje recibido” con el nombre y el resumen enviado.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Pendiente</a:t>
                      </a:r>
                      <a:r>
                        <a:rPr lang="en-US" sz="800" dirty="0">
                          <a:effectLst/>
                        </a:rPr>
                        <a:t> de </a:t>
                      </a:r>
                      <a:r>
                        <a:rPr lang="en-US" sz="800" dirty="0" err="1">
                          <a:effectLst/>
                        </a:rPr>
                        <a:t>ejecución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Pendiente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Captura</a:t>
                      </a:r>
                      <a:r>
                        <a:rPr lang="en-US" sz="800" dirty="0">
                          <a:effectLst/>
                        </a:rPr>
                        <a:t> del </a:t>
                      </a:r>
                      <a:r>
                        <a:rPr lang="en-US" sz="800" dirty="0" err="1">
                          <a:effectLst/>
                        </a:rPr>
                        <a:t>resultado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que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muestra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los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datos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en-US" sz="800" dirty="0" err="1">
                          <a:effectLst/>
                        </a:rPr>
                        <a:t>procesados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extLst>
                  <a:ext uri="{0D108BD9-81ED-4DB2-BD59-A6C34878D82A}">
                    <a16:rowId xmlns:a16="http://schemas.microsoft.com/office/drawing/2014/main" val="1782837272"/>
                  </a:ext>
                </a:extLst>
              </a:tr>
              <a:tr h="10196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PI-02 – Rechazo del servidor ante datos incompletos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Verificar que PHP valide los campos aunque se omita la validación del navegador.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procesar.php: comprobación de nombre, email, asunto y mensaje vacíos.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Apache y PHP activos; disponer de una forma de enviar POST sin un campo, por ejemplo herramientas de desarrollo o cliente HTTP.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POST con nombre=Ana, email=ana@example.com, mensaje=Prueba; omitir asunto.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1. Enviar POST directamente a procesar.php sin el campo asunto. 2. Revisar la respuesta del servidor.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PHP muestra “Todos los campos son obligatorios.” y no presenta el mensaje como recibido correctamente.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 de ejecución.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Pendiente</a:t>
                      </a:r>
                      <a:endParaRPr lang="en-GB" sz="8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</a:rPr>
                        <a:t>Captura</a:t>
                      </a:r>
                      <a:r>
                        <a:rPr lang="en-US" sz="800" dirty="0">
                          <a:effectLst/>
                        </a:rPr>
                        <a:t> de la </a:t>
                      </a:r>
                      <a:r>
                        <a:rPr lang="en-US" sz="800" dirty="0" err="1">
                          <a:effectLst/>
                        </a:rPr>
                        <a:t>petición</a:t>
                      </a:r>
                      <a:r>
                        <a:rPr lang="en-US" sz="800" dirty="0">
                          <a:effectLst/>
                        </a:rPr>
                        <a:t> y de la </a:t>
                      </a:r>
                      <a:r>
                        <a:rPr lang="en-US" sz="800" dirty="0" err="1">
                          <a:effectLst/>
                        </a:rPr>
                        <a:t>respuesta</a:t>
                      </a:r>
                      <a:r>
                        <a:rPr lang="en-US" sz="800" dirty="0">
                          <a:effectLst/>
                        </a:rPr>
                        <a:t> de error del </a:t>
                      </a:r>
                      <a:r>
                        <a:rPr lang="en-US" sz="800" dirty="0" err="1">
                          <a:effectLst/>
                        </a:rPr>
                        <a:t>servidor</a:t>
                      </a:r>
                      <a:r>
                        <a:rPr lang="en-US" sz="800" dirty="0">
                          <a:effectLst/>
                        </a:rPr>
                        <a:t>.</a:t>
                      </a:r>
                      <a:endParaRPr lang="en-GB" sz="8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044" marR="63044" marT="0" marB="0"/>
                </a:tc>
                <a:extLst>
                  <a:ext uri="{0D108BD9-81ED-4DB2-BD59-A6C34878D82A}">
                    <a16:rowId xmlns:a16="http://schemas.microsoft.com/office/drawing/2014/main" val="929515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EVIDENCIAS DE LOS CASOS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2013" y="1539362"/>
            <a:ext cx="3179324" cy="341473"/>
          </a:xfrm>
          <a:noFill/>
        </p:spPr>
        <p:txBody>
          <a:bodyPr>
            <a:normAutofit/>
          </a:bodyPr>
          <a:lstStyle/>
          <a:p>
            <a:r>
              <a:rPr lang="en-US" dirty="0"/>
              <a:t>PF-01 – </a:t>
            </a:r>
            <a:r>
              <a:rPr lang="en-US" dirty="0" err="1"/>
              <a:t>Envío</a:t>
            </a:r>
            <a:r>
              <a:rPr lang="en-US" dirty="0"/>
              <a:t> </a:t>
            </a:r>
            <a:r>
              <a:rPr lang="en-US" dirty="0" err="1"/>
              <a:t>exitoso</a:t>
            </a:r>
            <a:endParaRPr lang="en-GB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82D37E-3658-6A17-735A-FDE36438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12" y="1905154"/>
            <a:ext cx="4210455" cy="3900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54680-CFDE-33F7-132B-0A691C806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196" y="1539362"/>
            <a:ext cx="5345791" cy="428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EVIDENCIAS DE LOS CASOS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 txBox="1">
            <a:spLocks/>
          </p:cNvSpPr>
          <p:nvPr/>
        </p:nvSpPr>
        <p:spPr>
          <a:xfrm>
            <a:off x="331866" y="1686515"/>
            <a:ext cx="4894006" cy="31738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PV-01 – Campo </a:t>
            </a:r>
            <a:r>
              <a:rPr lang="en-US" dirty="0" err="1"/>
              <a:t>obligatorio</a:t>
            </a:r>
            <a:r>
              <a:rPr lang="en-US" dirty="0"/>
              <a:t> </a:t>
            </a:r>
            <a:r>
              <a:rPr lang="en-US" dirty="0" err="1"/>
              <a:t>vacío</a:t>
            </a:r>
            <a:endParaRPr lang="en-GB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D9FDBE-B6AC-C5E9-25A1-92A5AC337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47671"/>
            <a:ext cx="3369461" cy="3844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9ECB20-B111-1223-23BC-A3C562114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785" y="1491962"/>
            <a:ext cx="4075537" cy="46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B24B-5AFA-E4A8-1928-0E0A7CD3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5224-EA3D-76E7-B20B-F486C607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EVIDENCIAS DE LOS CASOS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CADDA-5ADF-29F3-EE5A-307250F08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DA3797C-CADA-5B6F-95C8-7DC7A23AB9BA}"/>
              </a:ext>
            </a:extLst>
          </p:cNvPr>
          <p:cNvSpPr txBox="1">
            <a:spLocks/>
          </p:cNvSpPr>
          <p:nvPr/>
        </p:nvSpPr>
        <p:spPr>
          <a:xfrm>
            <a:off x="565328" y="1691640"/>
            <a:ext cx="4894006" cy="3900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PI-01 – </a:t>
            </a:r>
            <a:r>
              <a:rPr lang="en-US" dirty="0" err="1"/>
              <a:t>Formulario</a:t>
            </a:r>
            <a:r>
              <a:rPr lang="en-US" dirty="0"/>
              <a:t> </a:t>
            </a:r>
            <a:r>
              <a:rPr lang="en-US" dirty="0" err="1"/>
              <a:t>integrado</a:t>
            </a:r>
            <a:r>
              <a:rPr lang="en-US" dirty="0"/>
              <a:t> con PHP</a:t>
            </a:r>
            <a:endParaRPr lang="en-GB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AD29A-E13A-2D38-EA44-0F0EF00EB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5" y="2159541"/>
            <a:ext cx="3135264" cy="3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011F6A-ECF5-B277-E1B0-1E24844DA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366" y="2159541"/>
            <a:ext cx="3461936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333875-FEEB-5384-9101-5D7EE1C3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8830" y="2081719"/>
            <a:ext cx="3645255" cy="36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5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>
            <a:noAutofit/>
          </a:bodyPr>
          <a:lstStyle/>
          <a:p>
            <a:r>
              <a:rPr lang="en-US" dirty="0" err="1"/>
              <a:t>Prueba</a:t>
            </a:r>
            <a:r>
              <a:rPr lang="en-US" dirty="0"/>
              <a:t> </a:t>
            </a:r>
            <a:r>
              <a:rPr lang="en-US" dirty="0" err="1"/>
              <a:t>Automatizada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7D9CF-257D-DFF1-9EF0-F350A20F1558}"/>
              </a:ext>
            </a:extLst>
          </p:cNvPr>
          <p:cNvSpPr txBox="1"/>
          <p:nvPr/>
        </p:nvSpPr>
        <p:spPr>
          <a:xfrm>
            <a:off x="1031132" y="24416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07B8B-289C-E826-046F-10153CF6D60A}"/>
              </a:ext>
            </a:extLst>
          </p:cNvPr>
          <p:cNvSpPr txBox="1"/>
          <p:nvPr/>
        </p:nvSpPr>
        <p:spPr>
          <a:xfrm>
            <a:off x="593388" y="1517515"/>
            <a:ext cx="50681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El </a:t>
            </a:r>
            <a:r>
              <a:rPr lang="en-GB" dirty="0" err="1"/>
              <a:t>análisis</a:t>
            </a:r>
            <a:r>
              <a:rPr lang="en-GB" dirty="0"/>
              <a:t> de </a:t>
            </a:r>
            <a:r>
              <a:rPr lang="en-GB" dirty="0" err="1"/>
              <a:t>resultados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tres</a:t>
            </a:r>
            <a:r>
              <a:rPr lang="en-GB" dirty="0"/>
              <a:t> </a:t>
            </a:r>
            <a:r>
              <a:rPr lang="en-GB" dirty="0" err="1"/>
              <a:t>casos</a:t>
            </a:r>
            <a:r>
              <a:rPr lang="en-GB" dirty="0"/>
              <a:t> de </a:t>
            </a:r>
            <a:r>
              <a:rPr lang="en-GB" dirty="0" err="1"/>
              <a:t>prueba</a:t>
            </a:r>
            <a:r>
              <a:rPr lang="en-GB" dirty="0"/>
              <a:t> </a:t>
            </a:r>
            <a:r>
              <a:rPr lang="en-GB" dirty="0" err="1"/>
              <a:t>manuales</a:t>
            </a:r>
            <a:r>
              <a:rPr lang="en-GB" dirty="0"/>
              <a:t> </a:t>
            </a:r>
            <a:r>
              <a:rPr lang="en-GB" dirty="0" err="1"/>
              <a:t>permitió</a:t>
            </a:r>
            <a:r>
              <a:rPr lang="en-GB" dirty="0"/>
              <a:t> </a:t>
            </a:r>
            <a:r>
              <a:rPr lang="en-GB" dirty="0" err="1"/>
              <a:t>comprobar</a:t>
            </a:r>
            <a:r>
              <a:rPr lang="en-GB" dirty="0"/>
              <a:t> el </a:t>
            </a:r>
            <a:r>
              <a:rPr lang="en-GB" dirty="0" err="1"/>
              <a:t>correcto</a:t>
            </a:r>
            <a:r>
              <a:rPr lang="en-GB" dirty="0"/>
              <a:t> </a:t>
            </a:r>
            <a:r>
              <a:rPr lang="en-GB" dirty="0" err="1"/>
              <a:t>funcionamiento</a:t>
            </a:r>
            <a:r>
              <a:rPr lang="en-GB" dirty="0"/>
              <a:t> del </a:t>
            </a:r>
            <a:r>
              <a:rPr lang="en-GB" dirty="0" err="1"/>
              <a:t>formulario</a:t>
            </a:r>
            <a:r>
              <a:rPr lang="en-GB" dirty="0"/>
              <a:t> de </a:t>
            </a:r>
            <a:r>
              <a:rPr lang="en-GB" dirty="0" err="1"/>
              <a:t>contacto</a:t>
            </a:r>
            <a:r>
              <a:rPr lang="en-GB" dirty="0"/>
              <a:t>. En la </a:t>
            </a:r>
            <a:r>
              <a:rPr lang="en-GB" dirty="0" err="1"/>
              <a:t>prueba</a:t>
            </a:r>
            <a:r>
              <a:rPr lang="en-GB" dirty="0"/>
              <a:t> </a:t>
            </a:r>
            <a:r>
              <a:rPr lang="en-GB" dirty="0" err="1"/>
              <a:t>funcional</a:t>
            </a:r>
            <a:r>
              <a:rPr lang="en-GB" dirty="0"/>
              <a:t> (PF-01), el </a:t>
            </a:r>
            <a:r>
              <a:rPr lang="en-GB" dirty="0" err="1"/>
              <a:t>formulario</a:t>
            </a:r>
            <a:r>
              <a:rPr lang="en-GB" dirty="0"/>
              <a:t> </a:t>
            </a:r>
            <a:r>
              <a:rPr lang="en-GB" dirty="0" err="1"/>
              <a:t>permitió</a:t>
            </a:r>
            <a:r>
              <a:rPr lang="en-GB" dirty="0"/>
              <a:t> </a:t>
            </a:r>
            <a:r>
              <a:rPr lang="en-GB" dirty="0" err="1"/>
              <a:t>ingresar</a:t>
            </a:r>
            <a:r>
              <a:rPr lang="en-GB" dirty="0"/>
              <a:t> y </a:t>
            </a:r>
            <a:r>
              <a:rPr lang="en-GB" dirty="0" err="1"/>
              <a:t>enviar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datos</a:t>
            </a:r>
            <a:r>
              <a:rPr lang="en-GB" dirty="0"/>
              <a:t> </a:t>
            </a:r>
            <a:r>
              <a:rPr lang="en-GB" dirty="0" err="1"/>
              <a:t>correctamente</a:t>
            </a:r>
            <a:r>
              <a:rPr lang="en-GB" dirty="0"/>
              <a:t>, </a:t>
            </a:r>
            <a:r>
              <a:rPr lang="en-GB" dirty="0" err="1"/>
              <a:t>mostrando</a:t>
            </a:r>
            <a:r>
              <a:rPr lang="en-GB" dirty="0"/>
              <a:t> la </a:t>
            </a:r>
            <a:r>
              <a:rPr lang="en-GB" dirty="0" err="1"/>
              <a:t>confirmación</a:t>
            </a:r>
            <a:r>
              <a:rPr lang="en-GB" dirty="0"/>
              <a:t> </a:t>
            </a:r>
            <a:r>
              <a:rPr lang="en-GB" dirty="0" err="1"/>
              <a:t>esperada</a:t>
            </a:r>
            <a:r>
              <a:rPr lang="en-GB" dirty="0"/>
              <a:t>. En la </a:t>
            </a:r>
            <a:r>
              <a:rPr lang="en-GB" dirty="0" err="1"/>
              <a:t>prueba</a:t>
            </a:r>
            <a:r>
              <a:rPr lang="en-GB" dirty="0"/>
              <a:t> de </a:t>
            </a:r>
            <a:r>
              <a:rPr lang="en-GB" dirty="0" err="1"/>
              <a:t>validación</a:t>
            </a:r>
            <a:r>
              <a:rPr lang="en-GB" dirty="0"/>
              <a:t> (PV-01), se </a:t>
            </a:r>
            <a:r>
              <a:rPr lang="en-GB" dirty="0" err="1"/>
              <a:t>verificó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el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impidiera</a:t>
            </a:r>
            <a:r>
              <a:rPr lang="en-GB" dirty="0"/>
              <a:t> el </a:t>
            </a:r>
            <a:r>
              <a:rPr lang="en-GB" dirty="0" err="1"/>
              <a:t>envío</a:t>
            </a:r>
            <a:r>
              <a:rPr lang="en-GB" dirty="0"/>
              <a:t> </a:t>
            </a:r>
            <a:r>
              <a:rPr lang="en-GB" dirty="0" err="1"/>
              <a:t>cuando</a:t>
            </a:r>
            <a:r>
              <a:rPr lang="en-GB" dirty="0"/>
              <a:t> un campo </a:t>
            </a:r>
            <a:r>
              <a:rPr lang="en-GB" dirty="0" err="1"/>
              <a:t>obligatorio</a:t>
            </a:r>
            <a:r>
              <a:rPr lang="en-GB" dirty="0"/>
              <a:t> </a:t>
            </a:r>
            <a:r>
              <a:rPr lang="en-GB" dirty="0" err="1"/>
              <a:t>estaba</a:t>
            </a:r>
            <a:r>
              <a:rPr lang="en-GB" dirty="0"/>
              <a:t> </a:t>
            </a:r>
            <a:r>
              <a:rPr lang="en-GB" dirty="0" err="1"/>
              <a:t>vacío</a:t>
            </a:r>
            <a:r>
              <a:rPr lang="en-GB" dirty="0"/>
              <a:t>. </a:t>
            </a:r>
            <a:r>
              <a:rPr lang="en-GB" dirty="0" err="1"/>
              <a:t>Finalmente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la </a:t>
            </a:r>
            <a:r>
              <a:rPr lang="en-GB" dirty="0" err="1"/>
              <a:t>prueba</a:t>
            </a:r>
            <a:r>
              <a:rPr lang="en-GB" dirty="0"/>
              <a:t> de </a:t>
            </a:r>
            <a:r>
              <a:rPr lang="en-GB" dirty="0" err="1"/>
              <a:t>integración</a:t>
            </a:r>
            <a:r>
              <a:rPr lang="en-GB" dirty="0"/>
              <a:t> (PI-01), </a:t>
            </a:r>
            <a:r>
              <a:rPr lang="en-GB" dirty="0" err="1"/>
              <a:t>mediante</a:t>
            </a:r>
            <a:r>
              <a:rPr lang="en-GB" dirty="0"/>
              <a:t> las </a:t>
            </a:r>
            <a:r>
              <a:rPr lang="en-GB" dirty="0" err="1"/>
              <a:t>herramientas</a:t>
            </a:r>
            <a:r>
              <a:rPr lang="en-GB" dirty="0"/>
              <a:t> de </a:t>
            </a:r>
            <a:r>
              <a:rPr lang="en-GB" dirty="0" err="1"/>
              <a:t>desarrollador</a:t>
            </a:r>
            <a:r>
              <a:rPr lang="en-GB" dirty="0"/>
              <a:t> de Google Chrome, se </a:t>
            </a:r>
            <a:r>
              <a:rPr lang="en-GB" dirty="0" err="1"/>
              <a:t>comprobó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datos</a:t>
            </a:r>
            <a:r>
              <a:rPr lang="en-GB" dirty="0"/>
              <a:t> se </a:t>
            </a:r>
            <a:r>
              <a:rPr lang="en-GB" dirty="0" err="1"/>
              <a:t>enviaran</a:t>
            </a:r>
            <a:r>
              <a:rPr lang="en-GB" dirty="0"/>
              <a:t> </a:t>
            </a:r>
            <a:r>
              <a:rPr lang="en-GB" dirty="0" err="1"/>
              <a:t>mediante</a:t>
            </a:r>
            <a:r>
              <a:rPr lang="en-GB" dirty="0"/>
              <a:t> el </a:t>
            </a:r>
            <a:r>
              <a:rPr lang="en-GB" dirty="0" err="1"/>
              <a:t>método</a:t>
            </a:r>
            <a:r>
              <a:rPr lang="en-GB" dirty="0"/>
              <a:t> POST al </a:t>
            </a:r>
            <a:r>
              <a:rPr lang="en-GB" dirty="0" err="1"/>
              <a:t>archivo</a:t>
            </a:r>
            <a:r>
              <a:rPr lang="en-GB" dirty="0"/>
              <a:t> </a:t>
            </a:r>
            <a:r>
              <a:rPr lang="en-GB" dirty="0" err="1"/>
              <a:t>procesar.php</a:t>
            </a:r>
            <a:r>
              <a:rPr lang="en-GB" dirty="0"/>
              <a:t> y </a:t>
            </a:r>
            <a:r>
              <a:rPr lang="en-GB" dirty="0" err="1"/>
              <a:t>que</a:t>
            </a:r>
            <a:r>
              <a:rPr lang="en-GB" dirty="0"/>
              <a:t> el </a:t>
            </a:r>
            <a:r>
              <a:rPr lang="en-GB" dirty="0" err="1"/>
              <a:t>servidor</a:t>
            </a:r>
            <a:r>
              <a:rPr lang="en-GB" dirty="0"/>
              <a:t> </a:t>
            </a:r>
            <a:r>
              <a:rPr lang="en-GB" dirty="0" err="1"/>
              <a:t>generara</a:t>
            </a:r>
            <a:r>
              <a:rPr lang="en-GB" dirty="0"/>
              <a:t> la </a:t>
            </a:r>
            <a:r>
              <a:rPr lang="en-GB" dirty="0" err="1"/>
              <a:t>respuesta</a:t>
            </a:r>
            <a:r>
              <a:rPr lang="en-GB" dirty="0"/>
              <a:t> </a:t>
            </a:r>
            <a:r>
              <a:rPr lang="en-GB" dirty="0" err="1"/>
              <a:t>correspondiente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[PLACEGHOLDER de </a:t>
            </a:r>
            <a:r>
              <a:rPr lang="en-GB" dirty="0" err="1"/>
              <a:t>prueba</a:t>
            </a:r>
            <a:r>
              <a:rPr lang="en-GB" dirty="0"/>
              <a:t> </a:t>
            </a:r>
            <a:r>
              <a:rPr lang="en-GB" dirty="0" err="1"/>
              <a:t>automatizada</a:t>
            </a:r>
            <a:r>
              <a:rPr lang="en-GB" dirty="0"/>
              <a:t>]</a:t>
            </a:r>
            <a:endParaRPr lang="es-CO" dirty="0"/>
          </a:p>
        </p:txBody>
      </p:sp>
      <p:pic>
        <p:nvPicPr>
          <p:cNvPr id="9" name="Picture 8" descr="3D five star rating symbol">
            <a:extLst>
              <a:ext uri="{FF2B5EF4-FFF2-40B4-BE49-F238E27FC236}">
                <a16:creationId xmlns:a16="http://schemas.microsoft.com/office/drawing/2014/main" id="{CF1C3068-21F3-5340-F20D-51699299D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4500"/>
            <a:ext cx="514401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Gracias!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104</TotalTime>
  <Words>1203</Words>
  <Application>Microsoft Office PowerPoint</Application>
  <PresentationFormat>Widescreen</PresentationFormat>
  <Paragraphs>112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Custom</vt:lpstr>
      <vt:lpstr>Actividad 8: taller de pruebas  Samuel Astudillo Camilo Zamora</vt:lpstr>
      <vt:lpstr>Nuestra app</vt:lpstr>
      <vt:lpstr>Alcance de las pruebas</vt:lpstr>
      <vt:lpstr>Tipos de pruebas</vt:lpstr>
      <vt:lpstr>Estrategia de pruebas</vt:lpstr>
      <vt:lpstr>Justificación de las pruebas</vt:lpstr>
      <vt:lpstr>Casos de prueba</vt:lpstr>
      <vt:lpstr>EVIDENCIAS DE LOS CASOS</vt:lpstr>
      <vt:lpstr>EVIDENCIAS DE LOS CASOS</vt:lpstr>
      <vt:lpstr>EVIDENCIAS DE LOS CASOS</vt:lpstr>
      <vt:lpstr>Prueba Automatizada</vt:lpstr>
      <vt:lpstr>Análisis de resultados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ZAMORA ROBAYO CAMILO ANDRES</dc:creator>
  <cp:lastModifiedBy>ZAMORA ROBAYO CAMILO ANDRES</cp:lastModifiedBy>
  <cp:revision>6</cp:revision>
  <dcterms:created xsi:type="dcterms:W3CDTF">2026-10-24T20:37:34Z</dcterms:created>
  <dcterms:modified xsi:type="dcterms:W3CDTF">2026-10-24T22:23:54Z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